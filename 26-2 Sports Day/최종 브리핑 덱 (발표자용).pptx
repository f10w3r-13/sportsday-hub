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60" r:id="rId3"/>
    <p:sldId id="262" r:id="rId4"/>
    <p:sldId id="264" r:id="rId5"/>
    <p:sldId id="265" r:id="rId6"/>
    <p:sldId id="266" r:id="rId7"/>
    <p:sldId id="267" r:id="rId8"/>
    <p:sldId id="268" r:id="rId9"/>
    <p:sldId id="269" r:id="rId10"/>
    <p:sldId id="270" r:id="rId11"/>
    <p:sldId id="271" r:id="rId12"/>
    <p:sldId id="272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84" y="7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민우 유" userId="d1d114cf410077fe" providerId="LiveId" clId="{47136FAD-2FB1-4B24-938A-93339C318FA1}"/>
    <pc:docChg chg="addSld delSld modSld">
      <pc:chgData name="민우 유" userId="d1d114cf410077fe" providerId="LiveId" clId="{47136FAD-2FB1-4B24-938A-93339C318FA1}" dt="2026-09-18T07:50:53.092" v="11" actId="1076"/>
      <pc:docMkLst>
        <pc:docMk/>
      </pc:docMkLst>
      <pc:sldChg chg="del">
        <pc:chgData name="민우 유" userId="d1d114cf410077fe" providerId="LiveId" clId="{47136FAD-2FB1-4B24-938A-93339C318FA1}" dt="2026-09-18T07:41:48.200" v="2" actId="47"/>
        <pc:sldMkLst>
          <pc:docMk/>
          <pc:sldMk cId="0" sldId="257"/>
        </pc:sldMkLst>
      </pc:sldChg>
      <pc:sldChg chg="del">
        <pc:chgData name="민우 유" userId="d1d114cf410077fe" providerId="LiveId" clId="{47136FAD-2FB1-4B24-938A-93339C318FA1}" dt="2026-09-18T07:41:53.634" v="3" actId="47"/>
        <pc:sldMkLst>
          <pc:docMk/>
          <pc:sldMk cId="0" sldId="258"/>
        </pc:sldMkLst>
      </pc:sldChg>
      <pc:sldChg chg="del">
        <pc:chgData name="민우 유" userId="d1d114cf410077fe" providerId="LiveId" clId="{47136FAD-2FB1-4B24-938A-93339C318FA1}" dt="2026-09-18T07:42:01.506" v="4" actId="47"/>
        <pc:sldMkLst>
          <pc:docMk/>
          <pc:sldMk cId="0" sldId="259"/>
        </pc:sldMkLst>
      </pc:sldChg>
      <pc:sldChg chg="del">
        <pc:chgData name="민우 유" userId="d1d114cf410077fe" providerId="LiveId" clId="{47136FAD-2FB1-4B24-938A-93339C318FA1}" dt="2026-09-18T07:41:35.709" v="1" actId="47"/>
        <pc:sldMkLst>
          <pc:docMk/>
          <pc:sldMk cId="0" sldId="261"/>
        </pc:sldMkLst>
      </pc:sldChg>
      <pc:sldChg chg="del">
        <pc:chgData name="민우 유" userId="d1d114cf410077fe" providerId="LiveId" clId="{47136FAD-2FB1-4B24-938A-93339C318FA1}" dt="2026-09-18T07:41:22.465" v="0" actId="47"/>
        <pc:sldMkLst>
          <pc:docMk/>
          <pc:sldMk cId="0" sldId="263"/>
        </pc:sldMkLst>
      </pc:sldChg>
      <pc:sldChg chg="del">
        <pc:chgData name="민우 유" userId="d1d114cf410077fe" providerId="LiveId" clId="{47136FAD-2FB1-4B24-938A-93339C318FA1}" dt="2026-09-18T07:49:57.448" v="5" actId="47"/>
        <pc:sldMkLst>
          <pc:docMk/>
          <pc:sldMk cId="0" sldId="272"/>
        </pc:sldMkLst>
      </pc:sldChg>
      <pc:sldChg chg="addSp modSp new mod">
        <pc:chgData name="민우 유" userId="d1d114cf410077fe" providerId="LiveId" clId="{47136FAD-2FB1-4B24-938A-93339C318FA1}" dt="2026-09-18T07:50:53.092" v="11" actId="1076"/>
        <pc:sldMkLst>
          <pc:docMk/>
          <pc:sldMk cId="124515930" sldId="272"/>
        </pc:sldMkLst>
        <pc:picChg chg="add mod">
          <ac:chgData name="민우 유" userId="d1d114cf410077fe" providerId="LiveId" clId="{47136FAD-2FB1-4B24-938A-93339C318FA1}" dt="2026-09-18T07:50:53.092" v="11" actId="1076"/>
          <ac:picMkLst>
            <pc:docMk/>
            <pc:sldMk cId="124515930" sldId="272"/>
            <ac:picMk id="3" creationId="{1FDD14E4-8E97-843F-645C-453D1A11195D}"/>
          </ac:picMkLst>
        </pc:picChg>
      </pc:sldChg>
      <pc:sldChg chg="addSp del mod">
        <pc:chgData name="민우 유" userId="d1d114cf410077fe" providerId="LiveId" clId="{47136FAD-2FB1-4B24-938A-93339C318FA1}" dt="2026-09-18T07:50:44.217" v="7" actId="47"/>
        <pc:sldMkLst>
          <pc:docMk/>
          <pc:sldMk cId="0" sldId="273"/>
        </pc:sldMkLst>
        <pc:picChg chg="add">
          <ac:chgData name="민우 유" userId="d1d114cf410077fe" providerId="LiveId" clId="{47136FAD-2FB1-4B24-938A-93339C318FA1}" dt="2026-09-18T07:50:37.179" v="6" actId="22"/>
          <ac:picMkLst>
            <pc:docMk/>
            <pc:sldMk cId="0" sldId="273"/>
            <ac:picMk id="22" creationId="{1E30C391-F85C-6590-7E07-18096A2F0B32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97201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[1분] 인사 후: '큰 결정과 주문은 다 끝났고, 오늘은 당일 실행 세부만 확정하는 자리. 40분 잡고 있습니다.'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오전은 설치 승부. 입장 관리존 최우선, 11:15 점심 수령 후 하클 식사. 배치 문의 → 준비 총괄(박하늘). 전원 명단은 인원관리표·웹앱.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가장 혼잡한 1시간. 3번 도장판(팀·사이즈·비건)이 단체티·점심 배부의 진본. 추가 접수 절차는 이 자리에서 결정.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[3분] 배치 질문은 준비 총괄(박하늘·이대현). 입장 관리존이 응급처치로 전환된다는 점 강조.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공통 카드로 시작해 전 심판이 배점을 동일하게 이해하게 한다. ⚠ 3건은 브리핑에서 자리에서 조정 결정. ('박서원·안령인 겹침'은 시트 대조 결과 오류로 삭제 — 두 사람은 병뚜껑 컬링만 담당, 2부 도장/뽑기는 메이플 지원 담당.)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대진·부전승 추첨은 개회 직후 확정. 판 개수 홀수 유지가 무승부 방지 핵심.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감시 4명 배치가 규칙의 핵심 — 명단 그대로 양측 2명씩.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메인 게임은 배점 ×1.5. 생존자 집계가 점수의 전부 — 심판 4명이 탈락 관리 확실히.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안전 심판 2명이 이 게임의 핵심 — 장갑 배부 잊지 말 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직접 캐치=공격권 전환룰이 논쟁 포인트 — 시작 전 참가자에게 명시. 탈락자도 경기에 남는다는 점 설명.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하클 7번째 팀으로 참가 — 6위 점수표와 7팀 순위 정렬 방식 브리핑에서 확인.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622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05156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100" dirty="0">
                <a:solidFill>
                  <a:srgbClr val="F5A6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26-2 스포츠데이 기획팀 · 행사 전 최종 브리핑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777240" y="1417320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HI-SIDE OUT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822960" y="254203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9C4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인사이드아웃 컨셉 · 율전 대운동장 · 6개 감정 팀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41248" y="3108960"/>
            <a:ext cx="137160" cy="137160"/>
          </a:xfrm>
          <a:prstGeom prst="ellipse">
            <a:avLst/>
          </a:prstGeom>
          <a:solidFill>
            <a:srgbClr val="F2C14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1078992" y="3108960"/>
            <a:ext cx="137160" cy="137160"/>
          </a:xfrm>
          <a:prstGeom prst="ellipse">
            <a:avLst/>
          </a:prstGeom>
          <a:solidFill>
            <a:srgbClr val="4C9BE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1316736" y="3108960"/>
            <a:ext cx="137160" cy="137160"/>
          </a:xfrm>
          <a:prstGeom prst="ellipse">
            <a:avLst/>
          </a:prstGeom>
          <a:solidFill>
            <a:srgbClr val="E553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1554480" y="3108960"/>
            <a:ext cx="137160" cy="137160"/>
          </a:xfrm>
          <a:prstGeom prst="ellipse">
            <a:avLst/>
          </a:prstGeom>
          <a:solidFill>
            <a:srgbClr val="63B06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1792224" y="3108960"/>
            <a:ext cx="137160" cy="137160"/>
          </a:xfrm>
          <a:prstGeom prst="ellipse">
            <a:avLst/>
          </a:prstGeom>
          <a:solidFill>
            <a:srgbClr val="9B7BD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2029968" y="3108960"/>
            <a:ext cx="137160" cy="137160"/>
          </a:xfrm>
          <a:prstGeom prst="ellipse">
            <a:avLst/>
          </a:prstGeom>
          <a:solidFill>
            <a:srgbClr val="F28C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822960" y="356616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 9. 20 (일) 10:00–19:00</a:t>
            </a:r>
            <a:endParaRPr lang="en-US" sz="2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C9C4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교환학생 150명 + 하이클럽 45명 · 6팀 · 우천 시 수성관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822960" y="4937760"/>
            <a:ext cx="2286000" cy="603504"/>
          </a:xfrm>
          <a:prstGeom prst="roundRect">
            <a:avLst>
              <a:gd name="adj" fmla="val 15152"/>
            </a:avLst>
          </a:prstGeom>
          <a:solidFill>
            <a:srgbClr val="F5A62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822960" y="4937760"/>
            <a:ext cx="2286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62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행사까지 D-2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22960" y="58064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89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 9. 18 (목) · 기획팀 전체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B3F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 1-A · 시간대별 인원 배치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오전 준비 — 09:30 ~ 11:50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412480" y="475488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조장 기준 — 전원 명단은 인원관리표·웹앱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115568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7F6FB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603504" y="117043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B3F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09:30~10:00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03504" y="1444752"/>
            <a:ext cx="166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명륜 국제관 L 집합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331720" y="1517904"/>
            <a:ext cx="4416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B3F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버스 탑승 수속·출석</a:t>
            </a:r>
            <a:r>
              <a:rPr lang="en-US" sz="1150" b="1" dirty="0">
                <a:solidFill>
                  <a:srgbClr val="B97A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2명</a:t>
            </a:r>
            <a:r>
              <a:rPr lang="en-US" sz="12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조장 김소라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967728" y="1517904"/>
            <a:ext cx="4416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B3F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물품 상차</a:t>
            </a:r>
            <a:r>
              <a:rPr lang="en-US" sz="1150" b="1" dirty="0">
                <a:solidFill>
                  <a:srgbClr val="B97A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2명</a:t>
            </a:r>
            <a:r>
              <a:rPr lang="en-US" sz="12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조장 임유진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1938528"/>
            <a:ext cx="11274552" cy="2011680"/>
          </a:xfrm>
          <a:prstGeom prst="roundRect">
            <a:avLst>
              <a:gd name="adj" fmla="val 2273"/>
            </a:avLst>
          </a:prstGeom>
          <a:solidFill>
            <a:srgbClr val="F7F6FB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603504" y="199339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B3F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10:00~10:30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03504" y="2267712"/>
            <a:ext cx="16642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버스 출발 / 율전 준비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331720" y="2340864"/>
            <a:ext cx="4416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B3F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[명륜] 버스 탑승 안내</a:t>
            </a:r>
            <a:r>
              <a:rPr lang="en-US" sz="1150" b="1" dirty="0">
                <a:solidFill>
                  <a:srgbClr val="B97A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2명</a:t>
            </a:r>
            <a:r>
              <a:rPr lang="en-US" sz="12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조장 박서원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967728" y="2340864"/>
            <a:ext cx="4416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B3F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율전 출석체크</a:t>
            </a:r>
            <a:r>
              <a:rPr lang="en-US" sz="1150" b="1" dirty="0">
                <a:solidFill>
                  <a:srgbClr val="B97A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2명</a:t>
            </a:r>
            <a:r>
              <a:rPr lang="en-US" sz="12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조장 이주환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331720" y="2596896"/>
            <a:ext cx="9052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B3F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총학 물품 이동</a:t>
            </a:r>
            <a:r>
              <a:rPr lang="en-US" sz="1150" b="1" dirty="0">
                <a:solidFill>
                  <a:srgbClr val="B97A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11명</a:t>
            </a:r>
            <a:r>
              <a:rPr lang="en-US" sz="12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조장 성현중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331720" y="2852928"/>
            <a:ext cx="9052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B3F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얼음 구매 (마트)</a:t>
            </a:r>
            <a:r>
              <a:rPr lang="en-US" sz="1150" b="1" dirty="0">
                <a:solidFill>
                  <a:srgbClr val="B97A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6명</a:t>
            </a:r>
            <a:r>
              <a:rPr lang="en-US" sz="12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조장 예건희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331720" y="3108960"/>
            <a:ext cx="9052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B3F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브룸 물품 이동</a:t>
            </a:r>
            <a:r>
              <a:rPr lang="en-US" sz="1150" b="1" dirty="0">
                <a:solidFill>
                  <a:srgbClr val="B97A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11명</a:t>
            </a:r>
            <a:r>
              <a:rPr lang="en-US" sz="12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조장 배현빈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331720" y="3364992"/>
            <a:ext cx="9052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B3F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준비물 확인 — 대운동장 대기</a:t>
            </a:r>
            <a:r>
              <a:rPr lang="en-US" sz="1150" b="1" dirty="0">
                <a:solidFill>
                  <a:srgbClr val="B97A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9명</a:t>
            </a:r>
            <a:r>
              <a:rPr lang="en-US" sz="12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조장 고연준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331720" y="3621024"/>
            <a:ext cx="4416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B3F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내부체크·총괄</a:t>
            </a:r>
            <a:r>
              <a:rPr lang="en-US" sz="1150" b="1" dirty="0">
                <a:solidFill>
                  <a:srgbClr val="B97A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3명</a:t>
            </a:r>
            <a:r>
              <a:rPr lang="en-US" sz="12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조장 윤서연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4041648"/>
            <a:ext cx="11274552" cy="2267712"/>
          </a:xfrm>
          <a:prstGeom prst="roundRect">
            <a:avLst>
              <a:gd name="adj" fmla="val 2016"/>
            </a:avLst>
          </a:prstGeom>
          <a:solidFill>
            <a:srgbClr val="F7F6FB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603504" y="40965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B3F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10:30~11:50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03504" y="4370832"/>
            <a:ext cx="1664208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경기장 준비 → 하클 식사 (팀 천막)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331720" y="4443984"/>
            <a:ext cx="9052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B3F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입장 관리존 설치 (최우선)</a:t>
            </a:r>
            <a:r>
              <a:rPr lang="en-US" sz="1150" b="1" dirty="0">
                <a:solidFill>
                  <a:srgbClr val="B97A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7명</a:t>
            </a:r>
            <a:r>
              <a:rPr lang="en-US" sz="12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조장 성현중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331720" y="4700016"/>
            <a:ext cx="9052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B3F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경기장·미니게임 부스 설치 (60×40m)</a:t>
            </a:r>
            <a:r>
              <a:rPr lang="en-US" sz="1150" b="1" dirty="0">
                <a:solidFill>
                  <a:srgbClr val="B97A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8명</a:t>
            </a:r>
            <a:r>
              <a:rPr lang="en-US" sz="12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조장 예건희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2331720" y="4956048"/>
            <a:ext cx="9052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B3F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팀별 응원·대기존 설치 (천막 2+돗자리)</a:t>
            </a:r>
            <a:r>
              <a:rPr lang="en-US" sz="1150" b="1" dirty="0">
                <a:solidFill>
                  <a:srgbClr val="B97A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8명</a:t>
            </a:r>
            <a:r>
              <a:rPr lang="en-US" sz="12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조장 전창민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2331720" y="5212080"/>
            <a:ext cx="4416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B3F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본부 설치</a:t>
            </a:r>
            <a:r>
              <a:rPr lang="en-US" sz="1150" b="1" dirty="0">
                <a:solidFill>
                  <a:srgbClr val="B97A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5명</a:t>
            </a:r>
            <a:r>
              <a:rPr lang="en-US" sz="12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조장 배현빈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67728" y="5212080"/>
            <a:ext cx="4416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B3F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입장존 물품 확인</a:t>
            </a:r>
            <a:r>
              <a:rPr lang="en-US" sz="1150" b="1" dirty="0">
                <a:solidFill>
                  <a:srgbClr val="B97A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2명</a:t>
            </a:r>
            <a:r>
              <a:rPr lang="en-US" sz="12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조장 이주환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2331720" y="5468112"/>
            <a:ext cx="4416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B3F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경기장 물품 확인</a:t>
            </a:r>
            <a:r>
              <a:rPr lang="en-US" sz="1150" b="1" dirty="0">
                <a:solidFill>
                  <a:srgbClr val="B97A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2명</a:t>
            </a:r>
            <a:r>
              <a:rPr lang="en-US" sz="12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조장 강재희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967728" y="5468112"/>
            <a:ext cx="4416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B3F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교환존 물품 확인</a:t>
            </a:r>
            <a:r>
              <a:rPr lang="en-US" sz="1150" b="1" dirty="0">
                <a:solidFill>
                  <a:srgbClr val="B97A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2명</a:t>
            </a:r>
            <a:r>
              <a:rPr lang="en-US" sz="12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조장 형원희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2331720" y="5724144"/>
            <a:ext cx="4416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B3F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본부 물품 확인</a:t>
            </a:r>
            <a:r>
              <a:rPr lang="en-US" sz="1150" b="1" dirty="0">
                <a:solidFill>
                  <a:srgbClr val="B97A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1명</a:t>
            </a:r>
            <a:r>
              <a:rPr lang="en-US" sz="12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조장 정혜림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967728" y="5724144"/>
            <a:ext cx="4416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B3F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점심 수령 (11:15)</a:t>
            </a:r>
            <a:r>
              <a:rPr lang="en-US" sz="1150" b="1" dirty="0">
                <a:solidFill>
                  <a:srgbClr val="B97A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2명</a:t>
            </a:r>
            <a:r>
              <a:rPr lang="en-US" sz="12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조장 고연준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2331720" y="5980176"/>
            <a:ext cx="4416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B3F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준비 총괄 (문의처)</a:t>
            </a:r>
            <a:r>
              <a:rPr lang="en-US" sz="1150" b="1" dirty="0">
                <a:solidFill>
                  <a:srgbClr val="B97A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4명</a:t>
            </a:r>
            <a:r>
              <a:rPr lang="en-US" sz="12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조장 박하늘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57200" y="6528816"/>
            <a:ext cx="10515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최종기획안 '2. 타임라인 &amp; 인원관리표' (2026-09) · 조장 = 인원관리표 첫 담당자 · 입장 관리존 = 천막 3 · 테이블 4 · 노트북 4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B3F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 2 · 입장 수속 플로우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11:50 ~ 12:50 — 버스 도착부터 팀 천막까지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700784" cy="2651760"/>
          </a:xfrm>
          <a:prstGeom prst="roundRect">
            <a:avLst>
              <a:gd name="adj" fmla="val 376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50800" dist="12700" dir="3600000" algn="bl" rotWithShape="0">
              <a:srgbClr val="26224A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566928" y="1481328"/>
            <a:ext cx="310896" cy="310896"/>
          </a:xfrm>
          <a:prstGeom prst="ellipse">
            <a:avLst/>
          </a:prstGeom>
          <a:solidFill>
            <a:srgbClr val="4B3FA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566928" y="14813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847088"/>
            <a:ext cx="15179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버스 도착 · 인솔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48640" y="2377440"/>
            <a:ext cx="15179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도착 즉시 인솔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정보방 도착 공지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48640" y="3072384"/>
            <a:ext cx="151790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4B3F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김소라 박서윤 유주영 임유진 박서원 안령인 (6)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103120" y="242316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A6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286000" y="1371600"/>
            <a:ext cx="1700784" cy="2651760"/>
          </a:xfrm>
          <a:prstGeom prst="roundRect">
            <a:avLst>
              <a:gd name="adj" fmla="val 376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50800" dist="12700" dir="3600000" algn="bl" rotWithShape="0">
              <a:srgbClr val="26224A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2395728" y="1481328"/>
            <a:ext cx="310896" cy="310896"/>
          </a:xfrm>
          <a:prstGeom prst="ellipse">
            <a:avLst/>
          </a:prstGeom>
          <a:solidFill>
            <a:srgbClr val="4B3FA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2395728" y="14813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377440" y="1847088"/>
            <a:ext cx="15179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출석 체크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2377440" y="2377440"/>
            <a:ext cx="15179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교환 명단 대조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노트북 지참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2377440" y="3072384"/>
            <a:ext cx="151790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4B3F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고연준 이주환 성현중 양서경 (4)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931920" y="242316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A6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114800" y="1371600"/>
            <a:ext cx="1700784" cy="2651760"/>
          </a:xfrm>
          <a:prstGeom prst="roundRect">
            <a:avLst>
              <a:gd name="adj" fmla="val 3763"/>
            </a:avLst>
          </a:prstGeom>
          <a:solidFill>
            <a:srgbClr val="ECEAF7"/>
          </a:solidFill>
          <a:ln w="15240">
            <a:solidFill>
              <a:srgbClr val="4B3FA6"/>
            </a:solidFill>
            <a:prstDash val="solid"/>
          </a:ln>
          <a:effectLst>
            <a:outerShdw blurRad="50800" dist="12700" dir="3600000" algn="bl" rotWithShape="0">
              <a:srgbClr val="26224A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4224528" y="1481328"/>
            <a:ext cx="310896" cy="310896"/>
          </a:xfrm>
          <a:prstGeom prst="ellipse">
            <a:avLst/>
          </a:prstGeom>
          <a:solidFill>
            <a:srgbClr val="4B3FA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4224528" y="14813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206240" y="1847088"/>
            <a:ext cx="15179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도장판 기록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4206240" y="2377440"/>
            <a:ext cx="15179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 · 티셔츠 사이즈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비건 여부 — 3종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206240" y="3072384"/>
            <a:ext cx="151790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4B3F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강단비 김민서 권나혜 김나은 (4)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760720" y="242316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A6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943600" y="1371600"/>
            <a:ext cx="1700784" cy="2651760"/>
          </a:xfrm>
          <a:prstGeom prst="roundRect">
            <a:avLst>
              <a:gd name="adj" fmla="val 376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50800" dist="12700" dir="3600000" algn="bl" rotWithShape="0">
              <a:srgbClr val="26224A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6053328" y="1481328"/>
            <a:ext cx="310896" cy="310896"/>
          </a:xfrm>
          <a:prstGeom prst="ellipse">
            <a:avLst/>
          </a:prstGeom>
          <a:solidFill>
            <a:srgbClr val="4B3FA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6053328" y="14813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035040" y="1847088"/>
            <a:ext cx="15179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점심 · 음료 배부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6035040" y="2377440"/>
            <a:ext cx="15179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점심 + 물 + 이온음료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줄 관리 병행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6035040" y="3072384"/>
            <a:ext cx="151790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4B3F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배솔비 김민정 이현서 신지나 (4)</a:t>
            </a:r>
            <a:endParaRPr lang="en-US" sz="10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4B3F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줄: 임도준 윤시현 이나원 한고은 (4)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7589520" y="242316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A6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7772400" y="1371600"/>
            <a:ext cx="1700784" cy="2651760"/>
          </a:xfrm>
          <a:prstGeom prst="roundRect">
            <a:avLst>
              <a:gd name="adj" fmla="val 376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50800" dist="12700" dir="3600000" algn="bl" rotWithShape="0">
              <a:srgbClr val="26224A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1"/>
          <p:cNvSpPr/>
          <p:nvPr/>
        </p:nvSpPr>
        <p:spPr>
          <a:xfrm>
            <a:off x="7882128" y="1481328"/>
            <a:ext cx="310896" cy="310896"/>
          </a:xfrm>
          <a:prstGeom prst="ellipse">
            <a:avLst/>
          </a:prstGeom>
          <a:solidFill>
            <a:srgbClr val="4B3FA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7882128" y="14813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7863840" y="1847088"/>
            <a:ext cx="15179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 천막 안내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7863840" y="2377440"/>
            <a:ext cx="15179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천막 2개씩 · 돗자리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7863840" y="3072384"/>
            <a:ext cx="151790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4B3F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팀장 6 — 배현빈 박서윤 이도연 강재희 김나은 전윤정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9418320" y="242316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A6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9601200" y="1371600"/>
            <a:ext cx="1700784" cy="2651760"/>
          </a:xfrm>
          <a:prstGeom prst="roundRect">
            <a:avLst>
              <a:gd name="adj" fmla="val 376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50800" dist="12700" dir="3600000" algn="bl" rotWithShape="0">
              <a:srgbClr val="26224A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8"/>
          <p:cNvSpPr/>
          <p:nvPr/>
        </p:nvSpPr>
        <p:spPr>
          <a:xfrm>
            <a:off x="9710928" y="1481328"/>
            <a:ext cx="310896" cy="310896"/>
          </a:xfrm>
          <a:prstGeom prst="ellipse">
            <a:avLst/>
          </a:prstGeom>
          <a:solidFill>
            <a:srgbClr val="4B3FA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/>
          <p:nvPr/>
        </p:nvSpPr>
        <p:spPr>
          <a:xfrm>
            <a:off x="9710928" y="14813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9692640" y="1847088"/>
            <a:ext cx="15179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단체티 배부</a:t>
            </a:r>
            <a:endParaRPr lang="en-US" sz="1350" dirty="0"/>
          </a:p>
        </p:txBody>
      </p:sp>
      <p:sp>
        <p:nvSpPr>
          <p:cNvPr id="43" name="Text 41"/>
          <p:cNvSpPr/>
          <p:nvPr/>
        </p:nvSpPr>
        <p:spPr>
          <a:xfrm>
            <a:off x="9692640" y="2377440"/>
            <a:ext cx="15179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도장판 기준 교환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사이즈 불일치 즉시 보고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9692640" y="3072384"/>
            <a:ext cx="151790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4B3F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부팀장 6 — 이희수 전창민 서인호 이현지 최준혁 예건희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457200" y="4297680"/>
            <a:ext cx="7406640" cy="2011680"/>
          </a:xfrm>
          <a:prstGeom prst="roundRect">
            <a:avLst>
              <a:gd name="adj" fmla="val 3182"/>
            </a:avLst>
          </a:prstGeom>
          <a:solidFill>
            <a:srgbClr val="F7F6FB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Text 44"/>
          <p:cNvSpPr/>
          <p:nvPr/>
        </p:nvSpPr>
        <p:spPr>
          <a:xfrm>
            <a:off x="685800" y="4434840"/>
            <a:ext cx="7040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예외 처리 — 지각생 입장 관리: 성현중 · 양서경 (12:50~13:30까지 계속)</a:t>
            </a:r>
            <a:endParaRPr lang="en-US" sz="1250" dirty="0"/>
          </a:p>
        </p:txBody>
      </p:sp>
      <p:sp>
        <p:nvSpPr>
          <p:cNvPr id="47" name="Text 45"/>
          <p:cNvSpPr/>
          <p:nvPr/>
        </p:nvSpPr>
        <p:spPr>
          <a:xfrm>
            <a:off x="713232" y="4773168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spcAft>
                <a:spcPts val="600"/>
              </a:spcAft>
              <a:buSzPct val="100000"/>
              <a:buChar char="–"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입장료 미납 → 현장 수금 + receipt 제공</a:t>
            </a:r>
            <a:endParaRPr lang="en-US" sz="1200" dirty="0"/>
          </a:p>
          <a:p>
            <a:pPr marL="127000" indent="-127000">
              <a:spcAft>
                <a:spcPts val="600"/>
              </a:spcAft>
              <a:buSzPct val="100000"/>
              <a:buChar char="–"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단체티 사이즈 불일치 → 본부 보고 후 조정</a:t>
            </a:r>
            <a:endParaRPr lang="en-US" sz="1200" dirty="0"/>
          </a:p>
          <a:p>
            <a:pPr marL="127000" indent="-127000">
              <a:spcAft>
                <a:spcPts val="600"/>
              </a:spcAft>
              <a:buSzPct val="100000"/>
              <a:buChar char="–"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우천 시에도 수속 동일 (수성관 내 입장 관리존)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8092440" y="4297680"/>
            <a:ext cx="3639312" cy="2011680"/>
          </a:xfrm>
          <a:prstGeom prst="roundRect">
            <a:avLst>
              <a:gd name="adj" fmla="val 3182"/>
            </a:avLst>
          </a:prstGeom>
          <a:solidFill>
            <a:srgbClr val="FFF6E5"/>
          </a:solidFill>
          <a:ln w="1524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Text 47"/>
          <p:cNvSpPr/>
          <p:nvPr/>
        </p:nvSpPr>
        <p:spPr>
          <a:xfrm>
            <a:off x="8321040" y="4480560"/>
            <a:ext cx="3200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B4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빈칸 — 브리핑에서 채움</a:t>
            </a:r>
            <a:endParaRPr lang="en-US" sz="1300" dirty="0"/>
          </a:p>
          <a:p>
            <a:pPr marL="127000" indent="-127000">
              <a:spcAft>
                <a:spcPts val="800"/>
              </a:spcAft>
              <a:buSzPct val="100000"/>
              <a:buChar char="□"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추가 접수(현장 대기) 절차</a:t>
            </a:r>
            <a:endParaRPr lang="en-US" sz="1300" dirty="0"/>
          </a:p>
          <a:p>
            <a:pPr marL="127000" indent="-127000">
              <a:spcAft>
                <a:spcPts val="800"/>
              </a:spcAft>
              <a:buSzPct val="100000"/>
              <a:buChar char="□"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인원 초과 시 티/식사 배분 규칙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457200" y="6528816"/>
            <a:ext cx="10515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최종기획안 '1. 행사 기획안' 입장 수속 1~3 + 인원관리표 11:50~12:50 · 입장 관리존: 천막 3 · 테이블 4 · 노트북 4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B3F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VENUE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대운동장 배치도 — 설치 구역과 담당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7589520" cy="4709160"/>
          </a:xfrm>
          <a:prstGeom prst="roundRect">
            <a:avLst>
              <a:gd name="adj" fmla="val 135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50800" dist="12700" dir="3600000" algn="bl" rotWithShape="0">
              <a:srgbClr val="26224A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C:\Users\0616y\OneDrive\바탕 화면\minwo0___\26-2 스포츠데이기획\_briefing_build\배치도_26-2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85800" y="1645920"/>
            <a:ext cx="7132320" cy="3931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61996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최종기획안 '7. 스포츠데이 배치도'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8366760" y="1554480"/>
            <a:ext cx="128016" cy="128016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/>
          <p:nvPr/>
        </p:nvSpPr>
        <p:spPr>
          <a:xfrm>
            <a:off x="8613648" y="146304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입장 관리존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613648" y="1764792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천막 3 · 테이블 4 · 노트북 4 — 최우선 설치 → 이후 응급처치 존 전환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8366760" y="2487168"/>
            <a:ext cx="128016" cy="128016"/>
          </a:xfrm>
          <a:prstGeom prst="ellipse">
            <a:avLst/>
          </a:prstGeom>
          <a:solidFill>
            <a:srgbClr val="4B3FA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8613648" y="239572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경기장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613648" y="269748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60m × 40m · 콘 마킹 (설치: 예건희 외 8)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8366760" y="3419856"/>
            <a:ext cx="128016" cy="128016"/>
          </a:xfrm>
          <a:prstGeom prst="ellipse">
            <a:avLst/>
          </a:prstGeom>
          <a:solidFill>
            <a:srgbClr val="4B3FA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/>
          <p:nvPr/>
        </p:nvSpPr>
        <p:spPr>
          <a:xfrm>
            <a:off x="8613648" y="3328416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팀별 대기존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8613648" y="3630168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천막 12 (팀당 2) + 돗자리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8366760" y="4352544"/>
            <a:ext cx="128016" cy="128016"/>
          </a:xfrm>
          <a:prstGeom prst="ellipse">
            <a:avLst/>
          </a:prstGeom>
          <a:solidFill>
            <a:srgbClr val="4B3FA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/>
          <p:nvPr/>
        </p:nvSpPr>
        <p:spPr>
          <a:xfrm>
            <a:off x="8613648" y="4261104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미니게임 부스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8613648" y="4562856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천막 3 — 1부 A / 2부 B (구성 상이)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8366760" y="5285232"/>
            <a:ext cx="128016" cy="128016"/>
          </a:xfrm>
          <a:prstGeom prst="ellipse">
            <a:avLst/>
          </a:prstGeom>
          <a:solidFill>
            <a:srgbClr val="4B3FA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7"/>
          <p:cNvSpPr/>
          <p:nvPr/>
        </p:nvSpPr>
        <p:spPr>
          <a:xfrm>
            <a:off x="8613648" y="519379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본부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8613648" y="5495544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천막 2 · 테이블 3 · 집계 노트북 2 · 사회자 대기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B3F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 3-0 · 심판 공통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점수 · 대진 · 운영 공통 규칙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B3F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토너먼트 (색판 · 무궁화 · 줄다리기 · 피구)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81328"/>
          <a:ext cx="5760720" cy="768096"/>
        </p:xfrm>
        <a:graphic>
          <a:graphicData uri="http://schemas.openxmlformats.org/drawingml/2006/table">
            <a:tbl>
              <a:tblPr/>
              <a:tblGrid>
                <a:gridCol w="960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순위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3FA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4B3FA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점수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100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80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60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40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263640" y="118872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4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 게임 ×1.5 (짝찾기 · 계주)</a:t>
            </a:r>
            <a:endParaRPr lang="en-US" sz="1300" dirty="0"/>
          </a:p>
        </p:txBody>
      </p:sp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3640" y="1481328"/>
          <a:ext cx="5760720" cy="768096"/>
        </p:xfrm>
        <a:graphic>
          <a:graphicData uri="http://schemas.openxmlformats.org/drawingml/2006/table">
            <a:tbl>
              <a:tblPr/>
              <a:tblGrid>
                <a:gridCol w="960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순위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A6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B4530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점수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150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120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90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60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30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15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457200" y="2606040"/>
            <a:ext cx="5760720" cy="1691640"/>
          </a:xfrm>
          <a:prstGeom prst="roundRect">
            <a:avLst>
              <a:gd name="adj" fmla="val 3784"/>
            </a:avLst>
          </a:prstGeom>
          <a:solidFill>
            <a:srgbClr val="F7F6FB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5"/>
          <p:cNvSpPr/>
          <p:nvPr/>
        </p:nvSpPr>
        <p:spPr>
          <a:xfrm>
            <a:off x="685800" y="272491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B3F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6팀 토너먼트 대진 (부전승 포함)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713232" y="3017520"/>
            <a:ext cx="5349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spcAft>
                <a:spcPts val="500"/>
              </a:spcAft>
              <a:buSzPct val="100000"/>
              <a:buChar char="–"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제비뽑기 2팀 → 준결승 직행 (부전승)</a:t>
            </a:r>
            <a:endParaRPr lang="en-US" sz="1200" dirty="0"/>
          </a:p>
          <a:p>
            <a:pPr marL="127000" indent="-127000">
              <a:spcAft>
                <a:spcPts val="500"/>
              </a:spcAft>
              <a:buSzPct val="100000"/>
              <a:buChar char="–"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남은 4팀 제비뽑기 → 1라운드 2경기</a:t>
            </a:r>
            <a:endParaRPr lang="en-US" sz="1200" dirty="0"/>
          </a:p>
          <a:p>
            <a:pPr marL="127000" indent="-127000">
              <a:spcAft>
                <a:spcPts val="500"/>
              </a:spcAft>
              <a:buSzPct val="100000"/>
              <a:buChar char="–"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순위 — 1위 결승승자 · 2위 결승패자 · 3위 준결승패자中승 · 4위 준결승패자中패 · 5위 1라운드패자中승 · 6위 1라운드패자中패</a:t>
            </a:r>
            <a:endParaRPr lang="en-US" sz="1200" dirty="0"/>
          </a:p>
          <a:p>
            <a:pPr marL="127000" indent="-127000">
              <a:spcAft>
                <a:spcPts val="500"/>
              </a:spcAft>
              <a:buSzPct val="100000"/>
              <a:buChar char="–"/>
            </a:pPr>
            <a:r>
              <a:rPr lang="en-US" sz="1200" b="1" dirty="0">
                <a:solidFill>
                  <a:srgbClr val="4B3F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부전승 팀도 1~6위 정상 확정, 배점 그대로 적용</a:t>
            </a:r>
            <a:endParaRPr lang="en-US" sz="1200" dirty="0"/>
          </a:p>
        </p:txBody>
      </p:sp>
      <p:sp>
        <p:nvSpPr>
          <p:cNvPr id="5" name="Shape 7"/>
          <p:cNvSpPr/>
          <p:nvPr/>
        </p:nvSpPr>
        <p:spPr>
          <a:xfrm>
            <a:off x="6263640" y="2606040"/>
            <a:ext cx="5468112" cy="1691640"/>
          </a:xfrm>
          <a:prstGeom prst="roundRect">
            <a:avLst>
              <a:gd name="adj" fmla="val 3784"/>
            </a:avLst>
          </a:prstGeom>
          <a:solidFill>
            <a:srgbClr val="F7F6FB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8"/>
          <p:cNvSpPr/>
          <p:nvPr/>
        </p:nvSpPr>
        <p:spPr>
          <a:xfrm>
            <a:off x="6492240" y="272491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B3F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미니게임 — 스탬프 투어 (토너먼트 점수 무관)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6519672" y="3017520"/>
            <a:ext cx="5029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spcAft>
                <a:spcPts val="500"/>
              </a:spcAft>
              <a:buSzPct val="100000"/>
              <a:buChar char="–"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성공 시 도장 1개 (칸별 중복 불가) · 실패 시 줄 뒤로 재도전 가능</a:t>
            </a:r>
            <a:endParaRPr lang="en-US" sz="1200" dirty="0"/>
          </a:p>
          <a:p>
            <a:pPr marL="127000" indent="-127000">
              <a:spcAft>
                <a:spcPts val="500"/>
              </a:spcAft>
              <a:buSzPct val="100000"/>
              <a:buChar char="–"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도장 2개 = 뽑기 1회 (뽑기 후 도장에 체크)</a:t>
            </a:r>
            <a:endParaRPr lang="en-US" sz="1200" dirty="0"/>
          </a:p>
          <a:p>
            <a:pPr marL="127000" indent="-127000">
              <a:spcAft>
                <a:spcPts val="500"/>
              </a:spcAft>
              <a:buSzPct val="100000"/>
              <a:buChar char="–"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1부 부스 A — 제기차기 · 비어퐁 · 단체 줄넘기</a:t>
            </a:r>
            <a:endParaRPr lang="en-US" sz="1200" dirty="0"/>
          </a:p>
          <a:p>
            <a:pPr marL="127000" indent="-127000">
              <a:spcAft>
                <a:spcPts val="500"/>
              </a:spcAft>
              <a:buSzPct val="100000"/>
              <a:buChar char="–"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2부 부스 B — 감정 몸짓 퀴즈 · 페트병 세우기 · 병뚜껑 컬링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457200" y="4526280"/>
            <a:ext cx="5760720" cy="777240"/>
          </a:xfrm>
          <a:prstGeom prst="roundRect">
            <a:avLst>
              <a:gd name="adj" fmla="val 8235"/>
            </a:avLst>
          </a:prstGeom>
          <a:solidFill>
            <a:srgbClr val="ECEA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1"/>
          <p:cNvSpPr/>
          <p:nvPr/>
        </p:nvSpPr>
        <p:spPr>
          <a:xfrm>
            <a:off x="685800" y="4526280"/>
            <a:ext cx="5349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B3F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점수 전달  </a:t>
            </a:r>
            <a:r>
              <a:rPr lang="en-US" sz="12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경기 종료 즉시 본부 옆 점수집계 부스로 — 고연준 · 이주환 (노트북 2대)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263640" y="4526280"/>
            <a:ext cx="5468112" cy="1691640"/>
          </a:xfrm>
          <a:prstGeom prst="roundRect">
            <a:avLst>
              <a:gd name="adj" fmla="val 3784"/>
            </a:avLst>
          </a:prstGeom>
          <a:solidFill>
            <a:srgbClr val="FFF6E5"/>
          </a:solidFill>
          <a:ln w="1524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3"/>
          <p:cNvSpPr/>
          <p:nvPr/>
        </p:nvSpPr>
        <p:spPr>
          <a:xfrm>
            <a:off x="6492240" y="464515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4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 브리핑에서 확인 — 원문 대비 배정 차이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6519672" y="4956048"/>
            <a:ext cx="5074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spcAft>
                <a:spcPts val="500"/>
              </a:spcAft>
              <a:buSzPct val="100000"/>
              <a:buChar char="–"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색깔 판 뒤집기 — 보조 4명 필요, 배정 3명</a:t>
            </a:r>
            <a:endParaRPr lang="en-US" sz="1200" dirty="0"/>
          </a:p>
          <a:p>
            <a:pPr marL="127000" indent="-127000">
              <a:spcAft>
                <a:spcPts val="500"/>
              </a:spcAft>
              <a:buSzPct val="100000"/>
              <a:buChar char="–"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계주 — 심판 4명(시작1+트랙3) 필요, 배정 주심1+보조2</a:t>
            </a:r>
            <a:endParaRPr lang="en-US" sz="1200" dirty="0"/>
          </a:p>
          <a:p>
            <a:pPr marL="127000" indent="-127000">
              <a:spcAft>
                <a:spcPts val="500"/>
              </a:spcAft>
              <a:buSzPct val="100000"/>
              <a:buChar char="–"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촬영(유주영·최준혁 12:00~18:10) — 제기차기 운영·피구 보조심판과 겹침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457200" y="6528816"/>
            <a:ext cx="10515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'스포츠데이 컨텐츠팀.docx' (점수표·대진·심판 표 원문 발췌) · 배정 차이는 인원관리표와의 대조 결과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B3F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 3-1 · 심판 카드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색깔 판 뒤집기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412480" y="475488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13:30 ~ 14:10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229600" y="274320"/>
            <a:ext cx="1371600" cy="365760"/>
          </a:xfrm>
          <a:prstGeom prst="roundRect">
            <a:avLst>
              <a:gd name="adj" fmla="val 15000"/>
            </a:avLst>
          </a:prstGeom>
          <a:solidFill>
            <a:srgbClr val="4B3FA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8229600" y="2743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토너먼트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692640" y="274320"/>
            <a:ext cx="2048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경기당 3분 + 준비 5분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1155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B3F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진행 방식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1426464"/>
            <a:ext cx="64922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800"/>
              </a:spcAft>
              <a:buSzPct val="100000"/>
              <a:buChar char="–"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팀당 10명 출전 · 2팀씩 대진, 1팀은 부전승 (대표 가위바위보)</a:t>
            </a:r>
            <a:endParaRPr lang="en-US" sz="1300" dirty="0"/>
          </a:p>
          <a:p>
            <a:pPr marL="127000" indent="-127000">
              <a:spcAft>
                <a:spcPts val="800"/>
              </a:spcAft>
              <a:buSzPct val="100000"/>
              <a:buChar char="–"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3분 동안 상대 팀 색깔 판을 뒤집어 자기 팀 색으로 변경</a:t>
            </a:r>
            <a:endParaRPr lang="en-US" sz="1300" dirty="0"/>
          </a:p>
          <a:p>
            <a:pPr marL="127000" indent="-127000">
              <a:spcAft>
                <a:spcPts val="800"/>
              </a:spcAft>
              <a:buSzPct val="100000"/>
              <a:buChar char="–"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무승부 방지 — 전체 판 개수는 반드시 '홀수' 세팅 (35장)</a:t>
            </a:r>
            <a:endParaRPr lang="en-US" sz="1300" dirty="0"/>
          </a:p>
          <a:p>
            <a:pPr marL="127000" indent="-127000">
              <a:spcAft>
                <a:spcPts val="800"/>
              </a:spcAft>
              <a:buSzPct val="100000"/>
              <a:buChar char="–"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경기 종료 후 본인 팀 색 판이 더 많은 팀 승리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223760" y="1115568"/>
            <a:ext cx="4507992" cy="1371600"/>
          </a:xfrm>
          <a:prstGeom prst="roundRect">
            <a:avLst>
              <a:gd name="adj" fmla="val 4667"/>
            </a:avLst>
          </a:prstGeom>
          <a:solidFill>
            <a:srgbClr val="ECEA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7452360" y="1234440"/>
            <a:ext cx="4114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4B3F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점수 (토너먼트 공통)</a:t>
            </a:r>
            <a:endParaRPr lang="en-US" sz="12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 · 80 · 60 · 40 · 20 · 10</a:t>
            </a:r>
            <a:endParaRPr lang="en-US" sz="12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B4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부전승 포함 1~6위 모두 순위 확정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223760" y="26700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B3F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심판 배정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223760" y="2962656"/>
            <a:ext cx="4526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2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주심 — 이현서</a:t>
            </a:r>
            <a:endParaRPr lang="en-US" sz="12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보조심판 — 이나원</a:t>
            </a:r>
            <a:endParaRPr lang="en-US" sz="12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게임 보조 — 이강서 · 성현중 · 김재희</a:t>
            </a:r>
            <a:endParaRPr lang="en-US" sz="12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부스·현장 관리 — 강단비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57200" y="4224528"/>
            <a:ext cx="6537960" cy="1783080"/>
          </a:xfrm>
          <a:prstGeom prst="roundRect">
            <a:avLst>
              <a:gd name="adj" fmla="val 3590"/>
            </a:avLst>
          </a:prstGeom>
          <a:solidFill>
            <a:srgbClr val="F7F6FB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685800" y="435254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4B3F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 포인트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13232" y="4645152"/>
            <a:ext cx="6126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spcAft>
                <a:spcPts val="500"/>
              </a:spcAft>
              <a:buSzPct val="100000"/>
              <a:buChar char="–"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주심: 종료 호루라기, 방해 행위 경고</a:t>
            </a:r>
            <a:endParaRPr lang="en-US" sz="1200" dirty="0"/>
          </a:p>
          <a:p>
            <a:pPr marL="127000" indent="-127000">
              <a:spcAft>
                <a:spcPts val="500"/>
              </a:spcAft>
              <a:buSzPct val="100000"/>
              <a:buChar char="–"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보조심판: 경기 전후 판 뒤집기 인원 식별</a:t>
            </a:r>
            <a:endParaRPr lang="en-US" sz="1200" dirty="0"/>
          </a:p>
          <a:p>
            <a:pPr marL="127000" indent="-127000">
              <a:spcAft>
                <a:spcPts val="500"/>
              </a:spcAft>
              <a:buSzPct val="100000"/>
              <a:buChar char="–"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보조: 판 세팅·정리, 판 개수 집계해 심판에게 전달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223760" y="5138928"/>
            <a:ext cx="4507992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7406640" y="5230368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4B3F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준비물  </a:t>
            </a:r>
            <a:r>
              <a:rPr lang="en-US" sz="11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호루라기 · 양면 색깔 판 35장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223760" y="4224528"/>
            <a:ext cx="4507992" cy="804672"/>
          </a:xfrm>
          <a:prstGeom prst="roundRect">
            <a:avLst>
              <a:gd name="adj" fmla="val 7955"/>
            </a:avLst>
          </a:prstGeom>
          <a:solidFill>
            <a:srgbClr val="FFF6E5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7406640" y="4297680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B4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 확인  </a:t>
            </a:r>
            <a:r>
              <a:rPr lang="en-US" sz="11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원문 요구 인원 보조 4명 → 배정 3명 (1명 부족)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6528816"/>
            <a:ext cx="10515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 원문: '스포츠데이 컨텐츠팀.docx' 발췌 · 배정: 인원관리표 · 공통 — 사회 김지원 · 김소라  |  교환 인솔 팀장 6  |  경기 종료 후 점수 → 본부 옆 집계 (고연준·이주환)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B3F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 3-2 · 심판 카드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무궁화 꽃이 피었습니다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412480" y="475488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14:10 ~ 14:50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229600" y="274320"/>
            <a:ext cx="1371600" cy="365760"/>
          </a:xfrm>
          <a:prstGeom prst="roundRect">
            <a:avLst>
              <a:gd name="adj" fmla="val 15000"/>
            </a:avLst>
          </a:prstGeom>
          <a:solidFill>
            <a:srgbClr val="4B3FA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8229600" y="2743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토너먼트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692640" y="274320"/>
            <a:ext cx="2048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경기당 1분 + 준비 5분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1155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B3F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진행 방식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1426464"/>
            <a:ext cx="64922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800"/>
              </a:spcAft>
              <a:buSzPct val="100000"/>
              <a:buChar char="–"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팀당 전원 참여 · 술래는 인사이드아웃 복장, 구호는 엇박으로 어렵게</a:t>
            </a:r>
            <a:endParaRPr lang="en-US" sz="1300" dirty="0"/>
          </a:p>
          <a:p>
            <a:pPr marL="127000" indent="-127000">
              <a:spcAft>
                <a:spcPts val="800"/>
              </a:spcAft>
              <a:buSzPct val="100000"/>
              <a:buChar char="–"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술래가 돌아본 순간 정지 — 움직임 발각 시 뿅망치 터치 → 탈락</a:t>
            </a:r>
            <a:endParaRPr lang="en-US" sz="1300" dirty="0"/>
          </a:p>
          <a:p>
            <a:pPr marL="127000" indent="-127000">
              <a:spcAft>
                <a:spcPts val="800"/>
              </a:spcAft>
              <a:buSzPct val="100000"/>
              <a:buChar char="–"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술래에게 먼저 도달해 터치하면 해당 팀 라운드 승리</a:t>
            </a:r>
            <a:endParaRPr lang="en-US" sz="1300" dirty="0"/>
          </a:p>
          <a:p>
            <a:pPr marL="127000" indent="-127000">
              <a:spcAft>
                <a:spcPts val="800"/>
              </a:spcAft>
              <a:buSzPct val="100000"/>
              <a:buChar char="–"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제한시간 1분 내 미도달 시 가장 앞선 참가자의 팀 승리</a:t>
            </a:r>
            <a:endParaRPr lang="en-US" sz="1300" dirty="0"/>
          </a:p>
          <a:p>
            <a:pPr marL="127000" indent="-127000">
              <a:spcAft>
                <a:spcPts val="800"/>
              </a:spcAft>
              <a:buSzPct val="100000"/>
              <a:buChar char="–"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술래가 뒤돌아 본 동안은 시간 카운트 일시정지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223760" y="1115568"/>
            <a:ext cx="4507992" cy="1371600"/>
          </a:xfrm>
          <a:prstGeom prst="roundRect">
            <a:avLst>
              <a:gd name="adj" fmla="val 4667"/>
            </a:avLst>
          </a:prstGeom>
          <a:solidFill>
            <a:srgbClr val="ECEA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7452360" y="1234440"/>
            <a:ext cx="4114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4B3F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점수 (토너먼트 공통)</a:t>
            </a:r>
            <a:endParaRPr lang="en-US" sz="12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 · 80 · 60 · 40 · 20 · 10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223760" y="26700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B3F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심판 배정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223760" y="2962656"/>
            <a:ext cx="4526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2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술래 — 이강서</a:t>
            </a:r>
            <a:endParaRPr lang="en-US" sz="12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하클 감시 심판 — 이나원 · 성현중 · 이대현 · 이주환</a:t>
            </a:r>
            <a:endParaRPr lang="en-US" sz="12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보조 — 강단비 · 이현서</a:t>
            </a:r>
            <a:endParaRPr lang="en-US" sz="12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부스·현장 관리 — 김재희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57200" y="4224528"/>
            <a:ext cx="6537960" cy="1783080"/>
          </a:xfrm>
          <a:prstGeom prst="roundRect">
            <a:avLst>
              <a:gd name="adj" fmla="val 3590"/>
            </a:avLst>
          </a:prstGeom>
          <a:solidFill>
            <a:srgbClr val="F7F6FB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685800" y="435254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4B3F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 포인트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13232" y="4645152"/>
            <a:ext cx="6126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spcAft>
                <a:spcPts val="500"/>
              </a:spcAft>
              <a:buSzPct val="100000"/>
              <a:buChar char="–"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감시 심판: 양측 2명씩 배치, 발견 즉시 뿅망치 터치</a:t>
            </a:r>
            <a:endParaRPr lang="en-US" sz="1200" dirty="0"/>
          </a:p>
          <a:p>
            <a:pPr marL="127000" indent="-127000">
              <a:spcAft>
                <a:spcPts val="500"/>
              </a:spcAft>
              <a:buSzPct val="100000"/>
              <a:buChar char="–"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보조: 출발선 관리, 탈락자 구역 이동 안내</a:t>
            </a:r>
            <a:endParaRPr lang="en-US" sz="1200" dirty="0"/>
          </a:p>
          <a:p>
            <a:pPr marL="127000" indent="-127000">
              <a:spcAft>
                <a:spcPts val="500"/>
              </a:spcAft>
              <a:buSzPct val="100000"/>
              <a:buChar char="–"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술래 구호는 마이크 사용 (잘 들리게)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223760" y="5138928"/>
            <a:ext cx="4507992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7406640" y="5230368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4B3F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준비물  </a:t>
            </a:r>
            <a:r>
              <a:rPr lang="en-US" sz="11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인사이드아웃 복장 세트 · 뿅망치 2개 이상 · 콘/테이프 · 마이크·스피커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6528816"/>
            <a:ext cx="10515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 원문: '스포츠데이 컨텐츠팀.docx' 발췌 · 배정: 인원관리표 · 공통 — 사회 김지원 · 김소라  |  교환 인솔 팀장 6  |  경기 종료 후 점수 → 본부 옆 집계 (고연준·이주환)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B3F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 3-3 · 심판 카드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짝 찾기 게임 (메인)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412480" y="475488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14:50 ~ 15:10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229600" y="274320"/>
            <a:ext cx="1371600" cy="365760"/>
          </a:xfrm>
          <a:prstGeom prst="roundRect">
            <a:avLst>
              <a:gd name="adj" fmla="val 15000"/>
            </a:avLst>
          </a:prstGeom>
          <a:solidFill>
            <a:srgbClr val="F5A62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8229600" y="2743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B42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 게임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692640" y="274320"/>
            <a:ext cx="2048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설명 5 + 연습 5 + 본게임 10 = 20분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1155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B3F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진행 방식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1426464"/>
            <a:ext cx="64922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800"/>
              </a:spcAft>
              <a:buSzPct val="100000"/>
              <a:buChar char="–"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전원 참여 · 음악 중 자유 이동 → 숫자 호명 시 그 수만큼 원형 진형</a:t>
            </a:r>
            <a:endParaRPr lang="en-US" sz="1300" dirty="0"/>
          </a:p>
          <a:p>
            <a:pPr marL="127000" indent="-127000">
              <a:spcAft>
                <a:spcPts val="800"/>
              </a:spcAft>
              <a:buSzPct val="100000"/>
              <a:buChar char="–"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캐릭터 동작 지시 — Joy: 어깨동무·한바퀴 / Sadness: 쪼그려 앉기 / Disgust: 팔짱·쳐다보기</a:t>
            </a:r>
            <a:endParaRPr lang="en-US" sz="1300" dirty="0"/>
          </a:p>
          <a:p>
            <a:pPr marL="127000" indent="-127000">
              <a:spcAft>
                <a:spcPts val="800"/>
              </a:spcAft>
              <a:buSzPct val="100000"/>
              <a:buChar char="–"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Anger: 등 맞대고 주먹 / Fear: 어깨동무·눈 감기 / Anxiety: 제자리 발 구르기</a:t>
            </a:r>
            <a:endParaRPr lang="en-US" sz="1300" dirty="0"/>
          </a:p>
          <a:p>
            <a:pPr marL="127000" indent="-127000">
              <a:spcAft>
                <a:spcPts val="800"/>
              </a:spcAft>
              <a:buSzPct val="100000"/>
              <a:buChar char="–"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짝 실패 또는 숫자 불일치 시 탈락 (경기장 밖 이동)</a:t>
            </a:r>
            <a:endParaRPr lang="en-US" sz="1300" dirty="0"/>
          </a:p>
          <a:p>
            <a:pPr marL="127000" indent="-127000">
              <a:spcAft>
                <a:spcPts val="800"/>
              </a:spcAft>
              <a:buSzPct val="100000"/>
              <a:buChar char="–"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4번 호명 후 또는 약 20명 생존 시 팀별 생존자 집계 — 동수는 동점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223760" y="1115568"/>
            <a:ext cx="4507992" cy="1371600"/>
          </a:xfrm>
          <a:prstGeom prst="roundRect">
            <a:avLst>
              <a:gd name="adj" fmla="val 4667"/>
            </a:avLst>
          </a:prstGeom>
          <a:solidFill>
            <a:srgbClr val="FFF6E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7452360" y="1234440"/>
            <a:ext cx="4114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B4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점수 (메인 ×1.5)</a:t>
            </a:r>
            <a:endParaRPr lang="en-US" sz="12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150 · 120 · 90 · 60 · 30 · 15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223760" y="26700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B3F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심판 배정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223760" y="2962656"/>
            <a:ext cx="4526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2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심판 4 — 강단비 · 성현중 · 이나원 · 김재희</a:t>
            </a:r>
            <a:endParaRPr lang="en-US" sz="12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생존자 집계(보조) — 이현서</a:t>
            </a:r>
            <a:endParaRPr lang="en-US" sz="12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부스·현장 관리 — 이강서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57200" y="4224528"/>
            <a:ext cx="6537960" cy="1783080"/>
          </a:xfrm>
          <a:prstGeom prst="roundRect">
            <a:avLst>
              <a:gd name="adj" fmla="val 3590"/>
            </a:avLst>
          </a:prstGeom>
          <a:solidFill>
            <a:srgbClr val="F7F6FB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685800" y="435254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4B3F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 포인트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13232" y="4645152"/>
            <a:ext cx="6126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spcAft>
                <a:spcPts val="500"/>
              </a:spcAft>
              <a:buSzPct val="100000"/>
              <a:buChar char="–"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심판 4: 탈락자 경기장 외부로 이동 안내</a:t>
            </a:r>
            <a:endParaRPr lang="en-US" sz="1200" dirty="0"/>
          </a:p>
          <a:p>
            <a:pPr marL="127000" indent="-127000">
              <a:spcAft>
                <a:spcPts val="500"/>
              </a:spcAft>
              <a:buSzPct val="100000"/>
              <a:buChar char="–"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보조: 생존자 수 집계 → 사회자에게 전달</a:t>
            </a:r>
            <a:endParaRPr lang="en-US" sz="1200" dirty="0"/>
          </a:p>
          <a:p>
            <a:pPr marL="127000" indent="-127000">
              <a:spcAft>
                <a:spcPts val="500"/>
              </a:spcAft>
              <a:buSzPct val="100000"/>
              <a:buChar char="–"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사회자: 시작·종료 공지, 룰 설명, 숫자 호명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223760" y="5138928"/>
            <a:ext cx="4507992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7406640" y="5230368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4B3F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준비물  </a:t>
            </a:r>
            <a:r>
              <a:rPr lang="en-US" sz="11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마이크 · 호루라기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6528816"/>
            <a:ext cx="10515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 원문: '스포츠데이 컨텐츠팀.docx' 발췌 · 배정: 인원관리표 · 공통 — 사회 김지원 · 김소라  |  교환 인솔 팀장 6  |  경기 종료 후 점수 → 본부 옆 집계 (고연준·이주환)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B3F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 3-4 · 심판 카드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전략 줄다리기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412480" y="475488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15:50 ~ 16:20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229600" y="274320"/>
            <a:ext cx="1371600" cy="365760"/>
          </a:xfrm>
          <a:prstGeom prst="roundRect">
            <a:avLst>
              <a:gd name="adj" fmla="val 15000"/>
            </a:avLst>
          </a:prstGeom>
          <a:solidFill>
            <a:srgbClr val="4B3FA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8229600" y="2743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토너먼트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692640" y="274320"/>
            <a:ext cx="2048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경기당 2분 + 준비 3분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1155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B3F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진행 방식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1426464"/>
            <a:ext cx="64922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800"/>
              </a:spcAft>
              <a:buSzPct val="100000"/>
              <a:buChar char="–"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팀당 20명 — 5개 줄에 자유 배분 (전략 수립 1분, 인원·성별 구성 동일)</a:t>
            </a:r>
            <a:endParaRPr lang="en-US" sz="1300" dirty="0"/>
          </a:p>
          <a:p>
            <a:pPr marL="127000" indent="-127000">
              <a:spcAft>
                <a:spcPts val="800"/>
              </a:spcAft>
              <a:buSzPct val="100000"/>
              <a:buChar char="–"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방사형 5개 줄, 각 진영 5m 이격 대기</a:t>
            </a:r>
            <a:endParaRPr lang="en-US" sz="1300" dirty="0"/>
          </a:p>
          <a:p>
            <a:pPr marL="127000" indent="-127000">
              <a:spcAft>
                <a:spcPts val="800"/>
              </a:spcAft>
              <a:buSzPct val="100000"/>
              <a:buChar char="–"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진영으로 줄을 '완전히' 가져와야 인정 — 3개 줄 먼저 승리</a:t>
            </a:r>
            <a:endParaRPr lang="en-US" sz="1300" dirty="0"/>
          </a:p>
          <a:p>
            <a:pPr marL="127000" indent="-127000">
              <a:spcAft>
                <a:spcPts val="800"/>
              </a:spcAft>
              <a:buSzPct val="100000"/>
              <a:buChar char="–"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2:2에서 2분 내 결판 안 나면 중앙 표시가 승리선에 가까운 팀 승</a:t>
            </a:r>
            <a:endParaRPr lang="en-US" sz="1300" dirty="0"/>
          </a:p>
          <a:p>
            <a:pPr marL="127000" indent="-127000">
              <a:spcAft>
                <a:spcPts val="800"/>
              </a:spcAft>
              <a:buSzPct val="100000"/>
              <a:buChar char="–"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한국인·교환학생이 한 팀에 섞이도록 구성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223760" y="1115568"/>
            <a:ext cx="4507992" cy="1371600"/>
          </a:xfrm>
          <a:prstGeom prst="roundRect">
            <a:avLst>
              <a:gd name="adj" fmla="val 4667"/>
            </a:avLst>
          </a:prstGeom>
          <a:solidFill>
            <a:srgbClr val="ECEA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7452360" y="1234440"/>
            <a:ext cx="4114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4B3F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점수 (토너먼트 공통)</a:t>
            </a:r>
            <a:endParaRPr lang="en-US" sz="12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 · 80 · 60 · 40 · 20 · 10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223760" y="26700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B3F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심판 배정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223760" y="2962656"/>
            <a:ext cx="4526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2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주심 — 임도준</a:t>
            </a:r>
            <a:endParaRPr lang="en-US" sz="12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 심판 — 이희수 · 배솔비</a:t>
            </a:r>
            <a:endParaRPr lang="en-US" sz="12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게임 보조 — 양서경 · 장혜원</a:t>
            </a:r>
            <a:endParaRPr lang="en-US" sz="12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부스·현장 관리 — 서인호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57200" y="4224528"/>
            <a:ext cx="6537960" cy="1783080"/>
          </a:xfrm>
          <a:prstGeom prst="roundRect">
            <a:avLst>
              <a:gd name="adj" fmla="val 3590"/>
            </a:avLst>
          </a:prstGeom>
          <a:solidFill>
            <a:srgbClr val="F7F6FB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685800" y="435254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4B3F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 포인트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13232" y="4645152"/>
            <a:ext cx="6126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spcAft>
                <a:spcPts val="500"/>
              </a:spcAft>
              <a:buSzPct val="100000"/>
              <a:buChar char="–"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주심: 시작·종료 신호, 반칙(밀치기·발 걸기) 판정</a:t>
            </a:r>
            <a:endParaRPr lang="en-US" sz="1200" dirty="0"/>
          </a:p>
          <a:p>
            <a:pPr marL="127000" indent="-127000">
              <a:spcAft>
                <a:spcPts val="500"/>
              </a:spcAft>
              <a:buSzPct val="100000"/>
              <a:buChar char="–"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 심판: 양쪽에서 줄·참가자 상태 확인, 사고 예방</a:t>
            </a:r>
            <a:endParaRPr lang="en-US" sz="1200" dirty="0"/>
          </a:p>
          <a:p>
            <a:pPr marL="127000" indent="-127000">
              <a:spcAft>
                <a:spcPts val="500"/>
              </a:spcAft>
              <a:buSzPct val="100000"/>
              <a:buChar char="–"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보조: 팀 정렬, 줄 위치 확인, 참가자 안내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223760" y="5138928"/>
            <a:ext cx="4507992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7406640" y="5230368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4B3F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준비물  </a:t>
            </a:r>
            <a:r>
              <a:rPr lang="en-US" sz="11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로프 6개 · 콘/테이프 · 조끼/캐릭터 소품 · 중앙 깃발 · 호루라기 · 점수판 · 타이머 · 미끄럼 방지 장갑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6528816"/>
            <a:ext cx="10515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 원문: '스포츠데이 컨텐츠팀.docx' 발췌 · 배정: 인원관리표 · 공통 — 사회 김지원 · 김소라  |  교환 인솔 팀장 6  |  경기 종료 후 점수 → 본부 옆 집계 (고연준·이주환)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B3F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 3-5 · 심판 카드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Protect the Sadness! (피구)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412480" y="475488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16:20 ~ 17:10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229600" y="274320"/>
            <a:ext cx="1371600" cy="365760"/>
          </a:xfrm>
          <a:prstGeom prst="roundRect">
            <a:avLst>
              <a:gd name="adj" fmla="val 15000"/>
            </a:avLst>
          </a:prstGeom>
          <a:solidFill>
            <a:srgbClr val="4B3FA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8229600" y="2743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토너먼트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692640" y="274320"/>
            <a:ext cx="2048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경기당 8~10분 + 교체 3분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1155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B3F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진행 방식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1426464"/>
            <a:ext cx="64922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800"/>
              </a:spcAft>
              <a:buSzPct val="100000"/>
              <a:buChar char="–"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팀당 12명 (한국인+교환학생 혼합) · 각 팀 '우울이' 1명 지정 — 감정 캐릭터 머리띠</a:t>
            </a:r>
            <a:endParaRPr lang="en-US" sz="1300" dirty="0"/>
          </a:p>
          <a:p>
            <a:pPr marL="127000" indent="-127000">
              <a:spcAft>
                <a:spcPts val="800"/>
              </a:spcAft>
              <a:buSzPct val="100000"/>
              <a:buChar char="–"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공에 맞으면 탈락 → 상대 진영 사이드로 넘어가 경기 계속</a:t>
            </a:r>
            <a:endParaRPr lang="en-US" sz="1300" dirty="0"/>
          </a:p>
          <a:p>
            <a:pPr marL="127000" indent="-127000">
              <a:spcAft>
                <a:spcPts val="800"/>
              </a:spcAft>
              <a:buSzPct val="100000"/>
              <a:buChar char="–"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바운드 없이 직접 잡으면 공격권 획득, 그 공으로 공격 가능</a:t>
            </a:r>
            <a:endParaRPr lang="en-US" sz="1300" dirty="0"/>
          </a:p>
          <a:p>
            <a:pPr marL="127000" indent="-127000">
              <a:spcAft>
                <a:spcPts val="800"/>
              </a:spcAft>
              <a:buSzPct val="100000"/>
              <a:buChar char="–"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우울이 탈락 또는 전원 탈락시키는 팀 승리</a:t>
            </a:r>
            <a:endParaRPr lang="en-US" sz="1300" dirty="0"/>
          </a:p>
          <a:p>
            <a:pPr marL="127000" indent="-127000">
              <a:spcAft>
                <a:spcPts val="800"/>
              </a:spcAft>
              <a:buSzPct val="100000"/>
              <a:buChar char="–"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2팀씩 대진 토너먼트 · 2팀 부전승 (대표 가위바위보)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223760" y="1115568"/>
            <a:ext cx="4507992" cy="1371600"/>
          </a:xfrm>
          <a:prstGeom prst="roundRect">
            <a:avLst>
              <a:gd name="adj" fmla="val 4667"/>
            </a:avLst>
          </a:prstGeom>
          <a:solidFill>
            <a:srgbClr val="ECEA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7452360" y="1234440"/>
            <a:ext cx="4114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4B3F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점수 (토너먼트 공통)</a:t>
            </a:r>
            <a:endParaRPr lang="en-US" sz="12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 · 80 · 60 · 40 · 20 · 10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223760" y="26700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B3F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심판 배정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223760" y="2962656"/>
            <a:ext cx="4526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2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주심 — 임종욱</a:t>
            </a:r>
            <a:endParaRPr lang="en-US" sz="12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보조 심판 — 형원희 · 최준혁</a:t>
            </a:r>
            <a:endParaRPr lang="en-US" sz="12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게임 보조 — 오윤주 · 이은재</a:t>
            </a:r>
            <a:endParaRPr lang="en-US" sz="12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부스·현장 관리 — 윤시현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57200" y="4224528"/>
            <a:ext cx="6537960" cy="1783080"/>
          </a:xfrm>
          <a:prstGeom prst="roundRect">
            <a:avLst>
              <a:gd name="adj" fmla="val 3590"/>
            </a:avLst>
          </a:prstGeom>
          <a:solidFill>
            <a:srgbClr val="F7F6FB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685800" y="435254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4B3F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 포인트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13232" y="4645152"/>
            <a:ext cx="6126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spcAft>
                <a:spcPts val="500"/>
              </a:spcAft>
              <a:buSzPct val="100000"/>
              <a:buChar char="–"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주심: 아웃 판정 및 경기 진행 전반</a:t>
            </a:r>
            <a:endParaRPr lang="en-US" sz="1200" dirty="0"/>
          </a:p>
          <a:p>
            <a:pPr marL="127000" indent="-127000">
              <a:spcAft>
                <a:spcPts val="500"/>
              </a:spcAft>
              <a:buSzPct val="100000"/>
              <a:buChar char="–"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보조 심판: 양쪽 코트 아웃 여부 확인</a:t>
            </a:r>
            <a:endParaRPr lang="en-US" sz="1200" dirty="0"/>
          </a:p>
          <a:p>
            <a:pPr marL="127000" indent="-127000">
              <a:spcAft>
                <a:spcPts val="500"/>
              </a:spcAft>
              <a:buSzPct val="100000"/>
              <a:buChar char="–"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보조: 공 관리, 탈락자 이동 안내, 점수 기록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223760" y="5138928"/>
            <a:ext cx="4507992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7406640" y="5230368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4B3F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준비물  </a:t>
            </a:r>
            <a:r>
              <a:rPr lang="en-US" sz="11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피구공 2개 · 팀 조끼 · 우울이 머리띠 · 경계 콘 · 탈락자 구역 콘 · 호루라기 · 점수판 · 타이머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6528816"/>
            <a:ext cx="10515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 원문: '스포츠데이 컨텐츠팀.docx' 발췌 · 배정: 인원관리표 · 공통 — 사회 김지원 · 김소라  |  교환 인솔 팀장 6  |  경기 종료 후 점수 → 본부 옆 집계 (고연준·이주환)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B3F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 3-6 · 심판 카드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혼성 계주 (메인)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412480" y="475488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17:10 ~ 17:35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229600" y="274320"/>
            <a:ext cx="1371600" cy="365760"/>
          </a:xfrm>
          <a:prstGeom prst="roundRect">
            <a:avLst>
              <a:gd name="adj" fmla="val 15000"/>
            </a:avLst>
          </a:prstGeom>
          <a:solidFill>
            <a:srgbClr val="F5A62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8229600" y="2743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B42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 게임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692640" y="274320"/>
            <a:ext cx="2048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단판 20분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1155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B3F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진행 방식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1426464"/>
            <a:ext cx="64922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800"/>
              </a:spcAft>
              <a:buSzPct val="100000"/>
              <a:buChar char="–"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하클 팀 포함 7팀 동시 출전 · 팀당 6명 (여 3 · 남 3)</a:t>
            </a:r>
            <a:endParaRPr lang="en-US" sz="1300" dirty="0"/>
          </a:p>
          <a:p>
            <a:pPr marL="127000" indent="-127000">
              <a:spcAft>
                <a:spcPts val="800"/>
              </a:spcAft>
              <a:buSzPct val="100000"/>
              <a:buChar char="–"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 → 남 순서로 반 바퀴씩 릴레이 · 마지막 주자 결승선 통과 순위</a:t>
            </a:r>
            <a:endParaRPr lang="en-US" sz="1300" dirty="0"/>
          </a:p>
          <a:p>
            <a:pPr marL="127000" indent="-127000">
              <a:spcAft>
                <a:spcPts val="800"/>
              </a:spcAft>
              <a:buSzPct val="100000"/>
              <a:buChar char="–"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동시 도착 시 영상 판별 — 홍보부 촬영 협조</a:t>
            </a:r>
            <a:endParaRPr lang="en-US" sz="1300" dirty="0"/>
          </a:p>
          <a:p>
            <a:pPr marL="127000" indent="-127000">
              <a:spcAft>
                <a:spcPts val="800"/>
              </a:spcAft>
              <a:buSzPct val="100000"/>
              <a:buChar char="–"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하클 팀을 이기면 추가 10점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223760" y="1115568"/>
            <a:ext cx="4507992" cy="1371600"/>
          </a:xfrm>
          <a:prstGeom prst="roundRect">
            <a:avLst>
              <a:gd name="adj" fmla="val 4667"/>
            </a:avLst>
          </a:prstGeom>
          <a:solidFill>
            <a:srgbClr val="FFF6E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7452360" y="1234440"/>
            <a:ext cx="4114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B4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점수 (메인 ×1.5)</a:t>
            </a:r>
            <a:endParaRPr lang="en-US" sz="12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150 · 120 · 90 · 60 · 30 · 15</a:t>
            </a:r>
            <a:endParaRPr lang="en-US" sz="12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B4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150 · 120 · 90 · 60 · 30 · 15 + 하클 격파 시 10점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223760" y="26700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B3F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심판 배정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223760" y="2962656"/>
            <a:ext cx="4526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2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주심 — 최준혁</a:t>
            </a:r>
            <a:endParaRPr lang="en-US" sz="12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보조 — 서인호 · 전창민</a:t>
            </a:r>
            <a:endParaRPr lang="en-US" sz="12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게임 보조 — 이현지 · 이은재</a:t>
            </a:r>
            <a:endParaRPr lang="en-US" sz="12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부스·현장 관리 — 배솔비 · 김나경 · 권나혜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57200" y="4224528"/>
            <a:ext cx="6537960" cy="1783080"/>
          </a:xfrm>
          <a:prstGeom prst="roundRect">
            <a:avLst>
              <a:gd name="adj" fmla="val 3590"/>
            </a:avLst>
          </a:prstGeom>
          <a:solidFill>
            <a:srgbClr val="F7F6FB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685800" y="435254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4B3F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 포인트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13232" y="4645152"/>
            <a:ext cx="6126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spcAft>
                <a:spcPts val="500"/>
              </a:spcAft>
              <a:buSzPct val="100000"/>
              <a:buChar char="–"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주심: 시작 신호, 반칙(코스 침범 등) 판정</a:t>
            </a:r>
            <a:endParaRPr lang="en-US" sz="1200" dirty="0"/>
          </a:p>
          <a:p>
            <a:pPr marL="127000" indent="-127000">
              <a:spcAft>
                <a:spcPts val="500"/>
              </a:spcAft>
              <a:buSzPct val="100000"/>
              <a:buChar char="–"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트랙 심판: 곳곳 배치 반칙 확인 + 결승선 판독</a:t>
            </a:r>
            <a:endParaRPr lang="en-US" sz="1200" dirty="0"/>
          </a:p>
          <a:p>
            <a:pPr marL="127000" indent="-127000">
              <a:spcAft>
                <a:spcPts val="500"/>
              </a:spcAft>
              <a:buSzPct val="100000"/>
              <a:buChar char="–"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보조: 5번째 주자 바통 전달 시 결승 테이프 준비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223760" y="5138928"/>
            <a:ext cx="4507992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7406640" y="5230368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4B3F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준비물  </a:t>
            </a:r>
            <a:r>
              <a:rPr lang="en-US" sz="11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바톤 7개 · 트랙 마킹 콘 30개 · 결승 테이프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223760" y="4224528"/>
            <a:ext cx="4507992" cy="804672"/>
          </a:xfrm>
          <a:prstGeom prst="roundRect">
            <a:avLst>
              <a:gd name="adj" fmla="val 7955"/>
            </a:avLst>
          </a:prstGeom>
          <a:solidFill>
            <a:srgbClr val="FFF6E5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7406640" y="4297680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B4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 확인  </a:t>
            </a:r>
            <a:r>
              <a:rPr lang="en-US" sz="11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원문 요구 심판 4명(시작 1+트랙 3) → 배정 주심 1+보조 2 · 7팀 순위 처리도 확인 필요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6528816"/>
            <a:ext cx="10515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 원문: '스포츠데이 컨텐츠팀.docx' 발췌 · 배정: 인원관리표 · 공통 — 사회 김지원 · 김소라  |  교환 인솔 팀장 6  |  경기 종료 후 점수 → 본부 옆 집계 (고연준·이주환)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1FDD14E4-8E97-843F-645C-453D1A1119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3754" y="358140"/>
            <a:ext cx="5846445" cy="5846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5159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2483</Words>
  <Application>Microsoft Office PowerPoint</Application>
  <PresentationFormat>와이드스크린</PresentationFormat>
  <Paragraphs>309</Paragraphs>
  <Slides>12</Slides>
  <Notes>11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5" baseType="lpstr">
      <vt:lpstr>Malgun Gothic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HI-Side Out 최종 브리핑 (2026-09-18)</dc:title>
  <dc:subject>PptxGenJS Presentation</dc:subject>
  <dc:creator>스포츠데이 기획팀</dc:creator>
  <cp:lastModifiedBy>민우 유</cp:lastModifiedBy>
  <cp:revision>1</cp:revision>
  <dcterms:created xsi:type="dcterms:W3CDTF">2026-09-18T07:26:25Z</dcterms:created>
  <dcterms:modified xsi:type="dcterms:W3CDTF">2026-09-18T07:50:58Z</dcterms:modified>
</cp:coreProperties>
</file>